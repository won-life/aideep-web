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737360"/>
            <a:ext cx="4754880" cy="4754880"/>
          </a:xfrm>
          <a:prstGeom prst="ellipse">
            <a:avLst/>
          </a:prstGeom>
          <a:solidFill>
            <a:srgbClr val="CFEFE1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797357" y="-1071677"/>
            <a:ext cx="3423514" cy="3423514"/>
          </a:xfrm>
          <a:prstGeom prst="ellipse">
            <a:avLst/>
          </a:prstGeom>
          <a:solidFill>
            <a:srgbClr val="9FDCC3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84125" y="-358445"/>
            <a:ext cx="1997050" cy="1997050"/>
          </a:xfrm>
          <a:prstGeom prst="ellipse">
            <a:avLst/>
          </a:prstGeom>
          <a:solidFill>
            <a:srgbClr val="6FC2A3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082735" y="4023360"/>
            <a:ext cx="4572000" cy="4572000"/>
          </a:xfrm>
          <a:prstGeom prst="ellipse">
            <a:avLst/>
          </a:prstGeom>
          <a:solidFill>
            <a:srgbClr val="CFEFE1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722815" y="4663440"/>
            <a:ext cx="3291840" cy="3291840"/>
          </a:xfrm>
          <a:prstGeom prst="ellipse">
            <a:avLst/>
          </a:prstGeom>
          <a:solidFill>
            <a:srgbClr val="9FDCC3">
              <a:alpha val="5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408615" y="5349240"/>
            <a:ext cx="1920240" cy="1920240"/>
          </a:xfrm>
          <a:prstGeom prst="ellipse">
            <a:avLst/>
          </a:prstGeom>
          <a:solidFill>
            <a:srgbClr val="6FC2A3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502920"/>
            <a:ext cx="4521708" cy="310896"/>
          </a:xfrm>
          <a:prstGeom prst="roundRect">
            <a:avLst>
              <a:gd name="adj" fmla="val 50000"/>
            </a:avLst>
          </a:prstGeom>
          <a:ln w="15875">
            <a:solidFill>
              <a:srgbClr val="7FB1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93776"/>
            <a:ext cx="45217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7FB1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2026 인천 청년 오프라인 마켓 · 서스테이너블웨이브 페스티벌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96012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E6E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AiDeep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621792" y="2011680"/>
            <a:ext cx="9601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E6E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쌓이고 방치되는 기록들,</a:t>
            </a:r>
            <a:endParaRPr lang="en-US" sz="2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E6E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이제는 모아서 정리해드릴게요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621792" y="2999232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1E6E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기록을 나만의 자산으로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1E6E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만들어드려요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0080" y="39136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7FB1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기록 관리로 디지털 탄소 감축까지 · 나의 작은 실천이 지구를 살려요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709160"/>
            <a:ext cx="2926080" cy="0"/>
          </a:xfrm>
          <a:prstGeom prst="line">
            <a:avLst/>
          </a:prstGeom>
          <a:noFill/>
          <a:ln w="12700">
            <a:solidFill>
              <a:srgbClr val="D8EC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8920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팀명   </a:t>
            </a:r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[팀명을 입력하세요]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5212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대표자   </a:t>
            </a:r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[이름을 입력하세요]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55321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연락처   </a:t>
            </a:r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tangbole@naver.com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773461" y="6084418"/>
            <a:ext cx="356616" cy="261518"/>
          </a:xfrm>
          <a:prstGeom prst="line">
            <a:avLst/>
          </a:prstGeom>
          <a:noFill/>
          <a:ln w="24765">
            <a:solidFill>
              <a:srgbClr val="7FB1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73461" y="6345936"/>
            <a:ext cx="356616" cy="-190195"/>
          </a:xfrm>
          <a:prstGeom prst="line">
            <a:avLst/>
          </a:prstGeom>
          <a:noFill/>
          <a:ln w="24765">
            <a:solidFill>
              <a:srgbClr val="7FB1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07040" y="5989320"/>
            <a:ext cx="190195" cy="190195"/>
          </a:xfrm>
          <a:prstGeom prst="ellipse">
            <a:avLst/>
          </a:prstGeom>
          <a:solidFill>
            <a:srgbClr val="7FB100"/>
          </a:solidFill>
          <a:ln/>
        </p:spPr>
      </p:sp>
      <p:sp>
        <p:nvSpPr>
          <p:cNvPr id="21" name="Shape 19"/>
          <p:cNvSpPr/>
          <p:nvPr/>
        </p:nvSpPr>
        <p:spPr>
          <a:xfrm>
            <a:off x="11106302" y="5917997"/>
            <a:ext cx="142646" cy="142646"/>
          </a:xfrm>
          <a:prstGeom prst="ellipse">
            <a:avLst/>
          </a:prstGeom>
          <a:solidFill>
            <a:srgbClr val="7FB100"/>
          </a:solidFill>
          <a:ln/>
        </p:spPr>
      </p:sp>
      <p:sp>
        <p:nvSpPr>
          <p:cNvPr id="22" name="Shape 20"/>
          <p:cNvSpPr/>
          <p:nvPr/>
        </p:nvSpPr>
        <p:spPr>
          <a:xfrm>
            <a:off x="11106302" y="6345936"/>
            <a:ext cx="142646" cy="142646"/>
          </a:xfrm>
          <a:prstGeom prst="ellipse">
            <a:avLst/>
          </a:prstGeom>
          <a:solidFill>
            <a:srgbClr val="7FB100"/>
          </a:solidFill>
          <a:ln/>
        </p:spPr>
      </p:sp>
      <p:sp>
        <p:nvSpPr>
          <p:cNvPr id="23" name="Text 21"/>
          <p:cNvSpPr/>
          <p:nvPr/>
        </p:nvSpPr>
        <p:spPr>
          <a:xfrm>
            <a:off x="11002975" y="6355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 / 8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6355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A9A9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AiDeep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FB1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WHY AIDEEP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6E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기록만 하고, 다시 들여다본 적 있나요?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1746504"/>
            <a:ext cx="128016" cy="128016"/>
          </a:xfrm>
          <a:prstGeom prst="ellipse">
            <a:avLst/>
          </a:prstGeom>
          <a:solidFill>
            <a:srgbClr val="A6E600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6916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쌓이기만 하는 메모와 캡처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20574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떠오른 생각, 회의록, 문서, 스크린샷... 저장은 쉬운데 다시 찾아보는 일은 없습니다.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58368" y="2798064"/>
            <a:ext cx="128016" cy="128016"/>
          </a:xfrm>
          <a:prstGeom prst="ellipse">
            <a:avLst/>
          </a:prstGeom>
          <a:solidFill>
            <a:srgbClr val="A6E600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7432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정리는 언제나 '다음'으로 미뤄집니다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310896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언젠가 정리해야지 하다가, 기록은 방치된 채로 계속 쌓여만 갑니다.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" y="3849624"/>
            <a:ext cx="128016" cy="128016"/>
          </a:xfrm>
          <a:prstGeom prst="ellipse">
            <a:avLst/>
          </a:prstGeom>
          <a:solidFill>
            <a:srgbClr val="A6E600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7947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방치된 기록은, 사실 디지털 탄소입니다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416052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쓰이지 않고 저장만 되는 데이터도 서버 공간과 전력을 씁니다. 정리되지 않은 기록 하나하나가 조용히 탄소를 만듭니다.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5074920"/>
            <a:ext cx="5532120" cy="868680"/>
          </a:xfrm>
          <a:prstGeom prst="roundRect">
            <a:avLst>
              <a:gd name="adj" fmla="val 8421"/>
            </a:avLst>
          </a:prstGeom>
          <a:solidFill>
            <a:srgbClr val="1C1C1E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507492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6E6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안개 낀 머릿속, AiDeep이 그래프로 맑게 걷어냅니다.</a:t>
            </a:r>
            <a:endParaRPr lang="en-US" sz="1600" dirty="0"/>
          </a:p>
        </p:txBody>
      </p:sp>
      <p:pic>
        <p:nvPicPr>
          <p:cNvPr id="15" name="Image 0" descr="/Users/choejimin/Desktop/Dev/aideep/플리마켓 운영계획서/source/images/card_pro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417320"/>
            <a:ext cx="2331720" cy="2916936"/>
          </a:xfrm>
          <a:prstGeom prst="rect">
            <a:avLst/>
          </a:prstGeom>
        </p:spPr>
      </p:pic>
      <p:pic>
        <p:nvPicPr>
          <p:cNvPr id="16" name="Image 1" descr="/Users/choejimin/Desktop/Dev/aideep/플리마켓 운영계획서/source/images/card_burd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0" y="1417320"/>
            <a:ext cx="2331720" cy="291693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720840" y="440740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실제 AiDeep 인스타그램 카드뉴스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11002975" y="6355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 / 8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548640" y="6355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A9A9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AiDeep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FB1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6E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설치만 하면 끝. 녹화도 업로드도 필요 없어요.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회의도 결국 하나의 기록입니다. 자막 → AI 구조화 → 그래프뷰, 세 단계가 저절로 끝납니다 — 나는 듣기만 하면 됩니다.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3429000" cy="370332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4E4D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2860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1EE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01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105656" y="3886200"/>
            <a:ext cx="246888" cy="0"/>
          </a:xfrm>
          <a:prstGeom prst="line">
            <a:avLst/>
          </a:prstGeom>
          <a:noFill/>
          <a:ln w="25400">
            <a:solidFill>
              <a:srgbClr val="7FB100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914400" y="29260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C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자막 자동 수집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3429000"/>
            <a:ext cx="28803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Meet 자막(CC)을 켜면 발화가 실시간으로 누적됩니다. 녹화 · 업로드 · 별도 앱 설치가 전혀 필요 없습니다.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89120" y="2057400"/>
            <a:ext cx="3429000" cy="370332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4E4D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22860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1EE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7854696" y="3886200"/>
            <a:ext cx="246888" cy="0"/>
          </a:xfrm>
          <a:prstGeom prst="line">
            <a:avLst/>
          </a:prstGeom>
          <a:noFill/>
          <a:ln w="25400">
            <a:solidFill>
              <a:srgbClr val="7FB100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4663440" y="29260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C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실시간 구조화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63440" y="3429000"/>
            <a:ext cx="28803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누적된 대화에서 안건 · 결정사항 · 액션아이템 · 미해결 질문을 AI가 자동으로 뽑아냅니다.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38160" y="2057400"/>
            <a:ext cx="3429000" cy="370332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4E4D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412480" y="22860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1EE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8412480" y="29260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C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그래프뷰로 시각화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12480" y="3429000"/>
            <a:ext cx="28803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회의 제목 → 섹션 → 항목이 노드 트리로 펼쳐집니다. 클릭해서 바로 고치고, 자유롭게 옮길 수 있습니다.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002975" y="6355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 / 8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355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A9A9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AiDeep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E6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말로 한 회의가, 눈에 보이는 지도가 됩니다</a:t>
            </a:r>
            <a:endParaRPr lang="en-US" sz="3200" dirty="0"/>
          </a:p>
        </p:txBody>
      </p:sp>
      <p:pic>
        <p:nvPicPr>
          <p:cNvPr id="4" name="Image 0" descr="/Users/choejimin/Desktop/Dev/aideep/플리마켓 운영계획서/source/images/shot_stru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5579344" cy="3063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4800600"/>
            <a:ext cx="55793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7B7B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회의 중 실시간 구조화 패널 — 자막 수집 · 구조화 · 그래프 반영이 버튼 하나</a:t>
            </a:r>
            <a:endParaRPr lang="en-US" sz="1150" dirty="0"/>
          </a:p>
        </p:txBody>
      </p:sp>
      <p:pic>
        <p:nvPicPr>
          <p:cNvPr id="6" name="Image 1" descr="/Users/choejimin/Desktop/Dev/aideep/플리마켓 운영계획서/source/images/shot_grap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9698" y="1600200"/>
            <a:ext cx="4609174" cy="30632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939698" y="4800600"/>
            <a:ext cx="460917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7B7B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완성된 그래프뷰 — 노드도 연결선도 내 맘대로 움직이는 마인드맵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640080" y="5532120"/>
            <a:ext cx="10927080" cy="594360"/>
          </a:xfrm>
          <a:prstGeom prst="roundRect">
            <a:avLst>
              <a:gd name="adj" fmla="val 12308"/>
            </a:avLst>
          </a:prstGeom>
          <a:solidFill>
            <a:srgbClr val="29292C"/>
          </a:solidFill>
          <a:ln/>
        </p:spPr>
      </p:sp>
      <p:sp>
        <p:nvSpPr>
          <p:cNvPr id="9" name="Text 5"/>
          <p:cNvSpPr/>
          <p:nvPr/>
        </p:nvSpPr>
        <p:spPr>
          <a:xfrm>
            <a:off x="914400" y="553212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E6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노드를 클릭하면 바로 텍스트 편집 · 줄글 문서 작업도 가능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1002975" y="6355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 / 8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548640" y="6355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8A8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AiDeep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FB1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MENU &amp; PRICE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6E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판매 상품 목록 &amp; 가격표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927080" cy="2331720"/>
          </a:xfrm>
          <a:prstGeom prst="roundRect">
            <a:avLst>
              <a:gd name="adj" fmla="val 3922"/>
            </a:avLst>
          </a:prstGeom>
          <a:solidFill>
            <a:srgbClr val="1C1C1E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572768"/>
            <a:ext cx="2546604" cy="310896"/>
          </a:xfrm>
          <a:prstGeom prst="roundRect">
            <a:avLst>
              <a:gd name="adj" fmla="val 50000"/>
            </a:avLst>
          </a:prstGeom>
          <a:ln w="15875">
            <a:solidFill>
              <a:srgbClr val="A6E6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63624"/>
            <a:ext cx="25466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A6E6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대표 상품 · WEB SERVICE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732520" y="1572768"/>
            <a:ext cx="2514600" cy="365760"/>
          </a:xfrm>
          <a:prstGeom prst="roundRect">
            <a:avLst>
              <a:gd name="adj" fmla="val 50000"/>
            </a:avLst>
          </a:prstGeom>
          <a:solidFill>
            <a:srgbClr val="A6E600"/>
          </a:solidFill>
          <a:ln/>
        </p:spPr>
      </p:sp>
      <p:sp>
        <p:nvSpPr>
          <p:cNvPr id="8" name="Text 6"/>
          <p:cNvSpPr/>
          <p:nvPr/>
        </p:nvSpPr>
        <p:spPr>
          <a:xfrm>
            <a:off x="8732520" y="157276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무료 체험 · FREE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993392"/>
            <a:ext cx="9784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6E6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AiDeep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914400" y="2523744"/>
            <a:ext cx="9784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쌓이고 방치되던 기록을, 나만의 자산으로 정리해주는 서비스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2944368"/>
            <a:ext cx="9784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7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Google Meet 자막을 자동으로 그래프로 정리해주는 개인용 크롬 확장 프로그램입니다.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3291840"/>
            <a:ext cx="9784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8A8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※ 이 부스는 홍보 목적으로 운영됩니다 — 서비스는 완전 무료입니다.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3931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체험 기념품 · 굿즈 (오프라인 실물 판매)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270248"/>
          <a:ext cx="10927080" cy="914400"/>
        </p:xfrm>
        <a:graphic>
          <a:graphicData uri="http://schemas.openxmlformats.org/drawingml/2006/table">
            <a:tbl>
              <a:tblPr/>
              <a:tblGrid>
                <a:gridCol w="6537960"/>
                <a:gridCol w="1645920"/>
                <a:gridCol w="27432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상품명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가격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비고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E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마인드 그래프 레고 키링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E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(체험존에서 완성한 내 마음 그래프 모양으로 제작)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1C1E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4,000원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E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체험 후 제작 · 한정 수량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E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DIY 조립형 미니 그래프 키링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1C1E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3,000원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E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직접 조립 체험형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E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AiDeep 로고 뱃지 · 스티커 세트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1C1E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1,500원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E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-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11002975" y="6355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 / 8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48640" y="6355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A9A9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AiDeep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E6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BOOTH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여러분의 머릿속을 보여드립니다.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7C7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안개 낀 숲을 걸어 나와 맑아진 세상을 보듯 — 뒤엉킨 머릿속이 그래프 하나로 선명해지는 순간을, 부스에서 그대로 보여드립니다.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429000" cy="3291840"/>
          </a:xfrm>
          <a:prstGeom prst="roundRect">
            <a:avLst>
              <a:gd name="adj" fmla="val 2778"/>
            </a:avLst>
          </a:prstGeom>
          <a:solidFill>
            <a:srgbClr val="29292C"/>
          </a:solidFill>
          <a:ln w="12700">
            <a:solidFill>
              <a:srgbClr val="3838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8817" y="2728570"/>
            <a:ext cx="288036" cy="211226"/>
          </a:xfrm>
          <a:prstGeom prst="line">
            <a:avLst/>
          </a:prstGeom>
          <a:noFill/>
          <a:ln w="20003">
            <a:solidFill>
              <a:srgbClr val="A6E6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48817" y="2939796"/>
            <a:ext cx="288036" cy="-153619"/>
          </a:xfrm>
          <a:prstGeom prst="line">
            <a:avLst/>
          </a:prstGeom>
          <a:noFill/>
          <a:ln w="20003">
            <a:solidFill>
              <a:srgbClr val="A6E6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651760"/>
            <a:ext cx="153619" cy="153619"/>
          </a:xfrm>
          <a:prstGeom prst="ellipse">
            <a:avLst/>
          </a:prstGeom>
          <a:solidFill>
            <a:srgbClr val="A6E600"/>
          </a:solidFill>
          <a:ln/>
        </p:spPr>
      </p:sp>
      <p:sp>
        <p:nvSpPr>
          <p:cNvPr id="9" name="Shape 7"/>
          <p:cNvSpPr/>
          <p:nvPr/>
        </p:nvSpPr>
        <p:spPr>
          <a:xfrm>
            <a:off x="1317650" y="2594153"/>
            <a:ext cx="115214" cy="115214"/>
          </a:xfrm>
          <a:prstGeom prst="ellipse">
            <a:avLst/>
          </a:prstGeom>
          <a:solidFill>
            <a:srgbClr val="A6E600"/>
          </a:solidFill>
          <a:ln/>
        </p:spPr>
      </p:sp>
      <p:sp>
        <p:nvSpPr>
          <p:cNvPr id="10" name="Shape 8"/>
          <p:cNvSpPr/>
          <p:nvPr/>
        </p:nvSpPr>
        <p:spPr>
          <a:xfrm>
            <a:off x="1317650" y="2939796"/>
            <a:ext cx="115214" cy="115214"/>
          </a:xfrm>
          <a:prstGeom prst="ellipse">
            <a:avLst/>
          </a:prstGeom>
          <a:solidFill>
            <a:srgbClr val="A6E600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24612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6E6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체험존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70332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B7B7B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“너의 머릿속을 보여줘” — 요즘 고민을 말하면 안개처럼 뒤엉켜 있던 생각이 기쁨 · 슬픔 · 불안 감정 노드로 걷히며, 선명한 그래프로 드러나는 체험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389120" y="2331720"/>
            <a:ext cx="3429000" cy="3291840"/>
          </a:xfrm>
          <a:prstGeom prst="roundRect">
            <a:avLst>
              <a:gd name="adj" fmla="val 2778"/>
            </a:avLst>
          </a:prstGeom>
          <a:solidFill>
            <a:srgbClr val="29292C"/>
          </a:solidFill>
          <a:ln w="12700">
            <a:solidFill>
              <a:srgbClr val="3838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97857" y="2728570"/>
            <a:ext cx="288036" cy="211226"/>
          </a:xfrm>
          <a:prstGeom prst="line">
            <a:avLst/>
          </a:prstGeom>
          <a:noFill/>
          <a:ln w="20003">
            <a:solidFill>
              <a:srgbClr val="A6E6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97857" y="2939796"/>
            <a:ext cx="288036" cy="-153619"/>
          </a:xfrm>
          <a:prstGeom prst="line">
            <a:avLst/>
          </a:prstGeom>
          <a:noFill/>
          <a:ln w="20003">
            <a:solidFill>
              <a:srgbClr val="A6E6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2651760"/>
            <a:ext cx="153619" cy="153619"/>
          </a:xfrm>
          <a:prstGeom prst="ellipse">
            <a:avLst/>
          </a:prstGeom>
          <a:solidFill>
            <a:srgbClr val="A6E600"/>
          </a:solidFill>
          <a:ln/>
        </p:spPr>
      </p:sp>
      <p:sp>
        <p:nvSpPr>
          <p:cNvPr id="17" name="Shape 15"/>
          <p:cNvSpPr/>
          <p:nvPr/>
        </p:nvSpPr>
        <p:spPr>
          <a:xfrm>
            <a:off x="5066690" y="2594153"/>
            <a:ext cx="115214" cy="115214"/>
          </a:xfrm>
          <a:prstGeom prst="ellipse">
            <a:avLst/>
          </a:prstGeom>
          <a:solidFill>
            <a:srgbClr val="A6E600"/>
          </a:solidFill>
          <a:ln/>
        </p:spPr>
      </p:sp>
      <p:sp>
        <p:nvSpPr>
          <p:cNvPr id="18" name="Shape 16"/>
          <p:cNvSpPr/>
          <p:nvPr/>
        </p:nvSpPr>
        <p:spPr>
          <a:xfrm>
            <a:off x="5066690" y="2939796"/>
            <a:ext cx="115214" cy="115214"/>
          </a:xfrm>
          <a:prstGeom prst="ellipse">
            <a:avLst/>
          </a:prstGeom>
          <a:solidFill>
            <a:srgbClr val="A6E600"/>
          </a:solidFill>
          <a:ln/>
        </p:spPr>
      </p:sp>
      <p:sp>
        <p:nvSpPr>
          <p:cNvPr id="19" name="Text 17"/>
          <p:cNvSpPr/>
          <p:nvPr/>
        </p:nvSpPr>
        <p:spPr>
          <a:xfrm>
            <a:off x="4663440" y="324612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6E6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이벤트존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663440" y="370332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B7B7B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스피드 퍼즐 맞추기(뒤죽박죽 스토리를 제한시간 안에 정리) + 같은 내용 짝짓기(다른 문장, 같은 의미 찾기) 게임 상시 진행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138160" y="2331720"/>
            <a:ext cx="3429000" cy="3291840"/>
          </a:xfrm>
          <a:prstGeom prst="roundRect">
            <a:avLst>
              <a:gd name="adj" fmla="val 2778"/>
            </a:avLst>
          </a:prstGeom>
          <a:solidFill>
            <a:srgbClr val="29292C"/>
          </a:solidFill>
          <a:ln w="12700">
            <a:solidFill>
              <a:srgbClr val="38383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46897" y="2728570"/>
            <a:ext cx="288036" cy="211226"/>
          </a:xfrm>
          <a:prstGeom prst="line">
            <a:avLst/>
          </a:prstGeom>
          <a:noFill/>
          <a:ln w="20003">
            <a:solidFill>
              <a:srgbClr val="A6E6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46897" y="2939796"/>
            <a:ext cx="288036" cy="-153619"/>
          </a:xfrm>
          <a:prstGeom prst="line">
            <a:avLst/>
          </a:prstGeom>
          <a:noFill/>
          <a:ln w="20003">
            <a:solidFill>
              <a:srgbClr val="A6E6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2651760"/>
            <a:ext cx="153619" cy="153619"/>
          </a:xfrm>
          <a:prstGeom prst="ellipse">
            <a:avLst/>
          </a:prstGeom>
          <a:solidFill>
            <a:srgbClr val="A6E600"/>
          </a:solidFill>
          <a:ln/>
        </p:spPr>
      </p:sp>
      <p:sp>
        <p:nvSpPr>
          <p:cNvPr id="25" name="Shape 23"/>
          <p:cNvSpPr/>
          <p:nvPr/>
        </p:nvSpPr>
        <p:spPr>
          <a:xfrm>
            <a:off x="8815730" y="2594153"/>
            <a:ext cx="115214" cy="115214"/>
          </a:xfrm>
          <a:prstGeom prst="ellipse">
            <a:avLst/>
          </a:prstGeom>
          <a:solidFill>
            <a:srgbClr val="A6E600"/>
          </a:solidFill>
          <a:ln/>
        </p:spPr>
      </p:sp>
      <p:sp>
        <p:nvSpPr>
          <p:cNvPr id="26" name="Shape 24"/>
          <p:cNvSpPr/>
          <p:nvPr/>
        </p:nvSpPr>
        <p:spPr>
          <a:xfrm>
            <a:off x="8815730" y="2939796"/>
            <a:ext cx="115214" cy="115214"/>
          </a:xfrm>
          <a:prstGeom prst="ellipse">
            <a:avLst/>
          </a:prstGeom>
          <a:solidFill>
            <a:srgbClr val="A6E600"/>
          </a:solidFill>
          <a:ln/>
        </p:spPr>
      </p:sp>
      <p:sp>
        <p:nvSpPr>
          <p:cNvPr id="27" name="Text 25"/>
          <p:cNvSpPr/>
          <p:nvPr/>
        </p:nvSpPr>
        <p:spPr>
          <a:xfrm>
            <a:off x="8412480" y="324612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6E6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굿즈 · 포토존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412480" y="370332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B7B7B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체험존에서 완성한 내 마음 그래프 모양을 본뜬 키링 제작 · 대형 그래프 배너 앞 인증샷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40080" y="58978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A8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동선: 입구 배너 → 체험존(마음 그래프 체험) → 이벤트존(게임 참여) → 굿즈 · 포토존(키링 제작 · 인증샷)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002975" y="6355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 / 8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6355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8A8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AiDeep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48495" y="-1463040"/>
            <a:ext cx="4023360" cy="4023360"/>
          </a:xfrm>
          <a:prstGeom prst="ellipse">
            <a:avLst/>
          </a:prstGeom>
          <a:solidFill>
            <a:srgbClr val="CFEFE1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11766" y="-899770"/>
            <a:ext cx="2896819" cy="2896819"/>
          </a:xfrm>
          <a:prstGeom prst="ellipse">
            <a:avLst/>
          </a:prstGeom>
          <a:solidFill>
            <a:srgbClr val="9FDCC3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15270" y="-296266"/>
            <a:ext cx="1689811" cy="1689811"/>
          </a:xfrm>
          <a:prstGeom prst="ellipse">
            <a:avLst/>
          </a:prstGeom>
          <a:solidFill>
            <a:srgbClr val="6FC2A3">
              <a:alpha val="4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FB1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BOOTH LAYOUT &amp; SIGNAGE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566928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6E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부스 구성도 &amp; 홍보 배너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481328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부스 테이블 배치 (정면 기준)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847088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1C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AiDeep 실시간 데모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232257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모니터로 서비스 직접 시연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307592" y="2852928"/>
            <a:ext cx="768096" cy="457200"/>
          </a:xfrm>
          <a:prstGeom prst="roundRect">
            <a:avLst/>
          </a:prstGeom>
          <a:solidFill>
            <a:srgbClr val="7FB100"/>
          </a:solidFill>
          <a:ln/>
        </p:spPr>
      </p:sp>
      <p:sp>
        <p:nvSpPr>
          <p:cNvPr id="11" name="Shape 9"/>
          <p:cNvSpPr/>
          <p:nvPr/>
        </p:nvSpPr>
        <p:spPr>
          <a:xfrm>
            <a:off x="1691640" y="3310128"/>
            <a:ext cx="0" cy="484632"/>
          </a:xfrm>
          <a:prstGeom prst="line">
            <a:avLst/>
          </a:prstGeom>
          <a:noFill/>
          <a:ln w="15875">
            <a:solidFill>
              <a:srgbClr val="B9B9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80360" y="1847088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1C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체험존 · 너의 머릿속을 보여줘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880360" y="232257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담당 팀원1 · 완료 시 스탬프 1개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547872" y="2852928"/>
            <a:ext cx="768096" cy="457200"/>
          </a:xfrm>
          <a:prstGeom prst="ellipse">
            <a:avLst/>
          </a:prstGeom>
          <a:solidFill>
            <a:srgbClr val="A6E600"/>
          </a:solidFill>
          <a:ln/>
        </p:spPr>
      </p:sp>
      <p:sp>
        <p:nvSpPr>
          <p:cNvPr id="15" name="Shape 13"/>
          <p:cNvSpPr/>
          <p:nvPr/>
        </p:nvSpPr>
        <p:spPr>
          <a:xfrm>
            <a:off x="3931920" y="3310128"/>
            <a:ext cx="0" cy="484632"/>
          </a:xfrm>
          <a:prstGeom prst="line">
            <a:avLst/>
          </a:prstGeom>
          <a:noFill/>
          <a:ln w="15875">
            <a:solidFill>
              <a:srgbClr val="B9B9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0" y="1847088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1C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이벤트존 · 스피드 퍼즐 맞추기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120640" y="232257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담당 팀원2 · 완료 시 스탬프 1개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788152" y="2852928"/>
            <a:ext cx="768096" cy="457200"/>
          </a:xfrm>
          <a:prstGeom prst="ellipse">
            <a:avLst/>
          </a:prstGeom>
          <a:solidFill>
            <a:srgbClr val="A6E600"/>
          </a:solidFill>
          <a:ln/>
        </p:spPr>
      </p:sp>
      <p:sp>
        <p:nvSpPr>
          <p:cNvPr id="19" name="Shape 17"/>
          <p:cNvSpPr/>
          <p:nvPr/>
        </p:nvSpPr>
        <p:spPr>
          <a:xfrm>
            <a:off x="6172200" y="3310128"/>
            <a:ext cx="0" cy="484632"/>
          </a:xfrm>
          <a:prstGeom prst="line">
            <a:avLst/>
          </a:prstGeom>
          <a:noFill/>
          <a:ln w="15875">
            <a:solidFill>
              <a:srgbClr val="B9B9B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794760"/>
            <a:ext cx="6675120" cy="1280160"/>
          </a:xfrm>
          <a:prstGeom prst="roundRect">
            <a:avLst>
              <a:gd name="adj" fmla="val 4286"/>
            </a:avLst>
          </a:prstGeom>
          <a:solidFill>
            <a:srgbClr val="EDEDE6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828032"/>
            <a:ext cx="6675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9A9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부스 테이블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40080" y="5193792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7FB1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스탬프 랠리 — 체험존 · 이벤트존 각 참여 시 스탬프 1개, 2개를 모으면 그 자리에서 굿즈를 증정합니다.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0080" y="5541264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현장 준비물 — 가격표 · 명함꽂이 · 잔돈통 · 스탬프 카드 · 멀티탭/보조배터리 · 우천 대비 비닐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0" y="1481328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홍보 배너 (최종 디자인)</a:t>
            </a:r>
            <a:endParaRPr lang="en-US" sz="1300" dirty="0"/>
          </a:p>
        </p:txBody>
      </p:sp>
      <p:pic>
        <p:nvPicPr>
          <p:cNvPr id="25" name="Image 0" descr="/Users/choejimin/Desktop/Dev/aideep/플리마켓 운영계획서/source/images/banner_f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1847088"/>
            <a:ext cx="2697480" cy="3814686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8321040" y="1847088"/>
            <a:ext cx="2697480" cy="3814686"/>
          </a:xfrm>
          <a:prstGeom prst="rect">
            <a:avLst/>
          </a:prstGeom>
          <a:ln w="12700">
            <a:solidFill>
              <a:srgbClr val="D8ECE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772400" y="578979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i="1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실제 배너 디자인 — Canva 제작 · 워터컬러 안개 컨셉</a:t>
            </a:r>
            <a:endParaRPr lang="en-US" sz="930" dirty="0"/>
          </a:p>
        </p:txBody>
      </p:sp>
      <p:sp>
        <p:nvSpPr>
          <p:cNvPr id="28" name="Text 25"/>
          <p:cNvSpPr/>
          <p:nvPr/>
        </p:nvSpPr>
        <p:spPr>
          <a:xfrm>
            <a:off x="7772400" y="6045822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i="1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60×160cm X배너 기준 · 부스 입구 오른쪽, 공연 동선 쪽 배치 · QR코드는 인쇄 전 추가 예정</a:t>
            </a:r>
            <a:endParaRPr lang="en-US" sz="930" dirty="0"/>
          </a:p>
        </p:txBody>
      </p:sp>
      <p:sp>
        <p:nvSpPr>
          <p:cNvPr id="29" name="Text 26"/>
          <p:cNvSpPr/>
          <p:nvPr/>
        </p:nvSpPr>
        <p:spPr>
          <a:xfrm>
            <a:off x="11002975" y="6355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7 / 8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48640" y="6355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A9A9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AiDeep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E6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WHY WE SHOULD BE THE MAIN BOOTH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페스티벌 플리마켓의 메인 부스, AiDeep이어야 하는 이유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1645920"/>
          </a:xfrm>
          <a:prstGeom prst="roundRect">
            <a:avLst>
              <a:gd name="adj" fmla="val 5556"/>
            </a:avLst>
          </a:prstGeom>
          <a:solidFill>
            <a:srgbClr val="29292C"/>
          </a:solidFill>
          <a:ln w="12700">
            <a:solidFill>
              <a:srgbClr val="3838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56232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A6E6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페스티벌의 철학과 맞닿아 있는 서비스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4709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7C7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쓰이지 않고 쌓이기만 하는 기록도 서버 공간과 전력을 씁니다. AiDeep은 그 기록을 구조화해 실제로 쓰이게 만들어, 방치되는 디지털 탄소를 줄입니다. SWF가 말하는 '작은 움직임이 만드는 큰 변화'를, 저희는 기록 문화에서 실천합니다.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5257800" cy="1645920"/>
          </a:xfrm>
          <a:prstGeom prst="roundRect">
            <a:avLst>
              <a:gd name="adj" fmla="val 5556"/>
            </a:avLst>
          </a:prstGeom>
          <a:solidFill>
            <a:srgbClr val="29292C"/>
          </a:solidFill>
          <a:ln w="12700">
            <a:solidFill>
              <a:srgbClr val="3838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1856232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A6E6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실사용 가능한 완성 서비스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537960" y="2286000"/>
            <a:ext cx="4709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7C7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아이디어 단계가 아닌, Chrome 웹스토어에 정식 등록되어 지금 바로 설치·체험 가능한 제품입니다.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566160"/>
            <a:ext cx="5257800" cy="1645920"/>
          </a:xfrm>
          <a:prstGeom prst="roundRect">
            <a:avLst>
              <a:gd name="adj" fmla="val 5556"/>
            </a:avLst>
          </a:prstGeom>
          <a:solidFill>
            <a:srgbClr val="29292C"/>
          </a:solidFill>
          <a:ln w="12700">
            <a:solidFill>
              <a:srgbClr val="3838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730752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A6E6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체험 = 화제성, 그 자체로 콘텐츠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914400" y="4160520"/>
            <a:ext cx="4709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7C7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내가 말한 고민이 인사이드 아웃처럼 감정 노드로 펼쳐지는 장면은 그 자체로 시선을 끌고, 사진 찍고 공유하고 싶은 부스입니다.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3640" y="3566160"/>
            <a:ext cx="5257800" cy="1645920"/>
          </a:xfrm>
          <a:prstGeom prst="roundRect">
            <a:avLst>
              <a:gd name="adj" fmla="val 5556"/>
            </a:avLst>
          </a:prstGeom>
          <a:solidFill>
            <a:srgbClr val="29292C"/>
          </a:solidFill>
          <a:ln w="12700">
            <a:solidFill>
              <a:srgbClr val="3838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3730752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A6E6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스치지 않는, 제대로 채우는 체험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537960" y="4160520"/>
            <a:ext cx="4709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7C7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SWF가 아티스트에게 50분 이상의 무대를 내어주듯, 저희도 3~4분간 제대로 몰입하는 체험을 설계했습니다. 스쳐가는 부스가 아닌, 기억에 남는 부스가 되겠습니다.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562356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작은 정리 습관 하나가 만드는 변화 — AiDeep도 이 페스티벌의 새로운 파동에 함께하고 싶습니다.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10864901" y="5855818"/>
            <a:ext cx="356616" cy="261518"/>
          </a:xfrm>
          <a:prstGeom prst="line">
            <a:avLst/>
          </a:prstGeom>
          <a:noFill/>
          <a:ln w="24765">
            <a:solidFill>
              <a:srgbClr val="A6E6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864901" y="6117336"/>
            <a:ext cx="356616" cy="-190195"/>
          </a:xfrm>
          <a:prstGeom prst="line">
            <a:avLst/>
          </a:prstGeom>
          <a:noFill/>
          <a:ln w="24765">
            <a:solidFill>
              <a:srgbClr val="A6E6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698480" y="5760720"/>
            <a:ext cx="190195" cy="190195"/>
          </a:xfrm>
          <a:prstGeom prst="ellipse">
            <a:avLst/>
          </a:prstGeom>
          <a:solidFill>
            <a:srgbClr val="A6E600"/>
          </a:solidFill>
          <a:ln/>
        </p:spPr>
      </p:sp>
      <p:sp>
        <p:nvSpPr>
          <p:cNvPr id="20" name="Shape 18"/>
          <p:cNvSpPr/>
          <p:nvPr/>
        </p:nvSpPr>
        <p:spPr>
          <a:xfrm>
            <a:off x="11197742" y="5689397"/>
            <a:ext cx="142646" cy="142646"/>
          </a:xfrm>
          <a:prstGeom prst="ellipse">
            <a:avLst/>
          </a:prstGeom>
          <a:solidFill>
            <a:srgbClr val="A6E600"/>
          </a:solidFill>
          <a:ln/>
        </p:spPr>
      </p:sp>
      <p:sp>
        <p:nvSpPr>
          <p:cNvPr id="21" name="Shape 19"/>
          <p:cNvSpPr/>
          <p:nvPr/>
        </p:nvSpPr>
        <p:spPr>
          <a:xfrm>
            <a:off x="11197742" y="6117336"/>
            <a:ext cx="142646" cy="142646"/>
          </a:xfrm>
          <a:prstGeom prst="ellipse">
            <a:avLst/>
          </a:prstGeom>
          <a:solidFill>
            <a:srgbClr val="A6E600"/>
          </a:solidFill>
          <a:ln/>
        </p:spPr>
      </p:sp>
      <p:sp>
        <p:nvSpPr>
          <p:cNvPr id="22" name="Text 20"/>
          <p:cNvSpPr/>
          <p:nvPr/>
        </p:nvSpPr>
        <p:spPr>
          <a:xfrm>
            <a:off x="11002975" y="6355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 / 8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6355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8A8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AiDeep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AiDeep 플리마켓 운영계획서</dc:title>
  <dc:subject>PptxGenJS Presentation</dc:subject>
  <dc:creator>AiDeep</dc:creator>
  <cp:lastModifiedBy>AiDeep</cp:lastModifiedBy>
  <cp:revision>1</cp:revision>
  <dcterms:created xsi:type="dcterms:W3CDTF">2026-07-20T15:02:29Z</dcterms:created>
  <dcterms:modified xsi:type="dcterms:W3CDTF">2026-07-20T15:02:29Z</dcterms:modified>
</cp:coreProperties>
</file>